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91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9313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07008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56816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06624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56432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0624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56048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05856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55664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205472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705088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07008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956816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06624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56432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06240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56048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705856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55664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205472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55280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705088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207008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956816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06624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56432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206240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956048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705856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55664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205472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955280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705088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7200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207008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956816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706624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456432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206240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956048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705856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455664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205472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955280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705088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57200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207008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956816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706624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456432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206240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956048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705856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455664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205472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955280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705088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57200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207008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956816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2706624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3456432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206240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4956048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705856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455664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7205472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955280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8705088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57200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207008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956816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706624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3456432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4206240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4956048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5705856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455664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7205472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955280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8705088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457200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1207008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956816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706624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3456432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4206240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4956048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5705856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6455664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7205472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7955280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8705088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557784" y="-9144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RetinaScope</a:t>
            </a: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4600" dirty="0"/>
          </a:p>
        </p:txBody>
      </p:sp>
      <p:sp>
        <p:nvSpPr>
          <p:cNvPr id="100" name="Shape 98"/>
          <p:cNvSpPr/>
          <p:nvPr/>
        </p:nvSpPr>
        <p:spPr>
          <a:xfrm>
            <a:off x="475488" y="836676"/>
            <a:ext cx="34747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2228327" y="1068295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Retinal Vessel Segmentation &amp;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 Detection</a:t>
            </a:r>
            <a:endParaRPr lang="en-US" sz="2000" dirty="0"/>
          </a:p>
        </p:txBody>
      </p:sp>
      <p:sp>
        <p:nvSpPr>
          <p:cNvPr id="102" name="Shape 100"/>
          <p:cNvSpPr/>
          <p:nvPr/>
        </p:nvSpPr>
        <p:spPr>
          <a:xfrm>
            <a:off x="416560" y="2013771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Text 101"/>
          <p:cNvSpPr/>
          <p:nvPr/>
        </p:nvSpPr>
        <p:spPr>
          <a:xfrm>
            <a:off x="992632" y="199339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Aymen Slimani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713232" y="234086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Year Software Engineering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5833872" y="2013771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6" name="Text 104"/>
          <p:cNvSpPr/>
          <p:nvPr/>
        </p:nvSpPr>
        <p:spPr>
          <a:xfrm>
            <a:off x="6581349" y="2121408"/>
            <a:ext cx="1071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TEAM Project</a:t>
            </a:r>
          </a:p>
          <a:p>
            <a:pPr marL="0" indent="0" algn="l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Retinohelpers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3410712" y="320040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11" name="Text 109"/>
          <p:cNvSpPr/>
          <p:nvPr/>
        </p:nvSpPr>
        <p:spPr>
          <a:xfrm>
            <a:off x="411480" y="37947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github.com/AYMENsl25/Retinal-dr-detection   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411480" y="4187952"/>
            <a:ext cx="201168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411480" y="4187952"/>
            <a:ext cx="201168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411480" y="4233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0.8425</a:t>
            </a:r>
            <a:endParaRPr lang="en-US" sz="2200" dirty="0"/>
          </a:p>
        </p:txBody>
      </p:sp>
      <p:sp>
        <p:nvSpPr>
          <p:cNvPr id="115" name="Text 113"/>
          <p:cNvSpPr/>
          <p:nvPr/>
        </p:nvSpPr>
        <p:spPr>
          <a:xfrm>
            <a:off x="411480" y="4617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Dice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2587752" y="4187952"/>
            <a:ext cx="201168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2587752" y="4187952"/>
            <a:ext cx="201168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2587752" y="4233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0.9598</a:t>
            </a:r>
            <a:endParaRPr lang="en-US" sz="2200" dirty="0"/>
          </a:p>
        </p:txBody>
      </p:sp>
      <p:sp>
        <p:nvSpPr>
          <p:cNvPr id="119" name="Text 117"/>
          <p:cNvSpPr/>
          <p:nvPr/>
        </p:nvSpPr>
        <p:spPr>
          <a:xfrm>
            <a:off x="2587752" y="4617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QWK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4764024" y="4187952"/>
            <a:ext cx="201168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4764024" y="4187952"/>
            <a:ext cx="201168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4764024" y="4233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123" name="Text 121"/>
          <p:cNvSpPr/>
          <p:nvPr/>
        </p:nvSpPr>
        <p:spPr>
          <a:xfrm>
            <a:off x="4764024" y="4617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6940296" y="4187952"/>
            <a:ext cx="201168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6940296" y="4187952"/>
            <a:ext cx="201168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6940296" y="42336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</a:t>
            </a:r>
            <a:endParaRPr lang="en-US" sz="2200" dirty="0"/>
          </a:p>
        </p:txBody>
      </p:sp>
      <p:sp>
        <p:nvSpPr>
          <p:cNvPr id="127" name="Text 125"/>
          <p:cNvSpPr/>
          <p:nvPr/>
        </p:nvSpPr>
        <p:spPr>
          <a:xfrm>
            <a:off x="6940296" y="4617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Images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223760" y="22860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E0F7FA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22376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Motivation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188720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6916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11480" y="23500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patients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Turkey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09728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188720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16916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25–35%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3337560" y="23500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develop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Retinopathy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109728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188720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2200" y="16916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6263640" y="23500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of preventable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blindness (working-age)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20040" y="3127248"/>
            <a:ext cx="850392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320040" y="3127248"/>
            <a:ext cx="64008" cy="14630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475488" y="3182112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Ophthalmologists are concentrated in urban centers.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patients have NO access to screening. By the time they notice vision loss,
DR is already at Grade 3–4 — requiring laser surgery or vitreoretinal surgery.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offline screening tool can shift detection to Grade 0–1, preventing blindness.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6576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RetinaScope-AI v2  ·  Aymen Slimani  ·  TÜBİTAK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5943600" y="4864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RetinaScope-AI v2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deep learning pipeline for automated DR screening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"/>
            <a:ext cx="64008" cy="640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87552"/>
            <a:ext cx="5303520" cy="38221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0" y="1024128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833872" y="109728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1133856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19088" y="10789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Map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19088" y="135331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segmentation of all retinal vessels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806440" y="2029968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833872" y="210312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139696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19088" y="2084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Maps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419088" y="235915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MA, HE, EX, OD — 4 pathological classes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806440" y="3035808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5833872" y="310896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314553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19088" y="30906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Grade 0–4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419088" y="336499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grading via 9-channel classifier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806440" y="4041648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5833872" y="41148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9592" y="4151376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19088" y="40965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GradCAM++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419088" y="437083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heatmap for clinical trust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36576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RetinaScope-AI v2  ·  Aymen Slimani  ·  TÜBİTAK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5943600" y="4864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dr-stage1-unified-v2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sources unified — published on Kaggle (CC BY 4.0)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"/>
            <a:ext cx="64008" cy="640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005840"/>
            <a:ext cx="4572000" cy="201168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154680"/>
          <a:ext cx="4572000" cy="186537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RETINOMIX-5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Vessel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Vessel Combined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Vessel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IDRiD Part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Lesion (5 types)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MAPLES-DR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Vessel + Lesion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 vessel / 1,632 lesion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74920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074920" y="11155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585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507492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074920" y="225856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074920" y="23500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507492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Masks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132320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132320" y="11155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1,632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713232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Masks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132320" y="225856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132320" y="23500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713232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Datasets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0" y="3547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kaggle.com/aymenslimani/dr-stage1-unified-v2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6576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RetinaScope-AI v2  ·  Aymen Slimani  ·  TÜBİTAK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5943600" y="4864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across all camera sources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"/>
            <a:ext cx="64008" cy="640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291840" cy="36576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078992"/>
            <a:ext cx="3108960" cy="34930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4572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→ Preprocessed (512×512)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794760" y="1024128"/>
            <a:ext cx="5029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822192" y="106984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822192" y="1069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416552" y="10789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512×512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416552" y="13533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spatial dims across all datasets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794760" y="1984248"/>
            <a:ext cx="5029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822192" y="202996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E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22192" y="2029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416552" y="20391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Enhancement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416552" y="231343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Limited Adaptive Histogram Equalization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794760" y="2944368"/>
            <a:ext cx="5029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822192" y="299008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822192" y="2990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416552" y="29992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Circular Mask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416552" y="32735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black vignette borders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794760" y="3904488"/>
            <a:ext cx="5029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822192" y="395020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822192" y="3950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416552" y="39593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Normalize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416552" y="42336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mean=[0.485,0.456,0.406] std=[0.229,0.224,0.225]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794760" y="4754880"/>
            <a:ext cx="5029200" cy="237744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840480" y="4764024"/>
            <a:ext cx="4937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Green Channel Injection ablation: mixed results (±0.003 Dice) — RGB retained as standard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6576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RetinaScope-AI v2  ·  Aymen Slimani  ·  TÜBİTAK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43600" y="4864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Vessel Segmentation — 9 Architecture Benchmark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CFG across all models — fair, controlled comparison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"/>
            <a:ext cx="64008" cy="640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5577840" cy="395020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 (ResNet34)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U-Net++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U-Net  ★ TEACHER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CS-Net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FSG-Net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Swin-UNet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TransUNet  ★ STUDENT (KD)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CNN+Transformer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🏆 Ensemble (Final)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Att×0.4+Trans×0.4+CS×0.2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960120"/>
            <a:ext cx="2788920" cy="1920240"/>
          </a:xfrm>
          <a:prstGeom prst="roundRect">
            <a:avLst>
              <a:gd name="adj" fmla="val 4762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4"/>
          <p:cNvSpPr/>
          <p:nvPr/>
        </p:nvSpPr>
        <p:spPr>
          <a:xfrm>
            <a:off x="6126480" y="102412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Controlled?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26480" y="1353312"/>
            <a:ext cx="2606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optimizer, LR, loss,
augmentation &amp; data split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9 models.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differences
</a:t>
            </a: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Architecture only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3017520"/>
            <a:ext cx="13258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035040" y="3017520"/>
            <a:ext cx="54864" cy="9144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172200" y="309067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0.8200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126480" y="3566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(Att.UNet)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498080" y="3017520"/>
            <a:ext cx="13258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498080" y="301752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635240" y="309067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0.8423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7589520" y="3566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(TransUNet)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35040" y="4069080"/>
            <a:ext cx="27889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035040" y="406908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172200" y="4142232"/>
            <a:ext cx="26060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0.8425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126480" y="4562856"/>
            <a:ext cx="2651760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Ensemble Dice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6576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RetinaScope-AI v2  ·  Aymen Slimani  ·  TÜBİTAK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943600" y="4864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Benchmark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Teacher-Student Knowledge Distillation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Soft-label supervision from CNN teacher → Transformer student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"/>
            <a:ext cx="64008" cy="640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60120"/>
            <a:ext cx="5943600" cy="2971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987552"/>
            <a:ext cx="2423160" cy="1417320"/>
          </a:xfrm>
          <a:prstGeom prst="roundRect">
            <a:avLst>
              <a:gd name="adj" fmla="val 6452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92240" y="1051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Loss Formula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0" y="1335024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0.6×(Dice+BCE)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+ 0.3×KD_MSE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+ 0.1×Aux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2542032"/>
            <a:ext cx="24231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92240" y="26151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Improvement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92240" y="2907792"/>
            <a:ext cx="1417320" cy="2286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92240" y="2907792"/>
            <a:ext cx="1417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(Att.UNet)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955280" y="2907792"/>
            <a:ext cx="777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0.8200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92240" y="3227832"/>
            <a:ext cx="1417320" cy="2286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92240" y="3227832"/>
            <a:ext cx="1417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(no KD)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955280" y="3227832"/>
            <a:ext cx="777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0.7891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92240" y="3547872"/>
            <a:ext cx="1417320" cy="2286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92240" y="3547872"/>
            <a:ext cx="1417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(with KD)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955280" y="3547872"/>
            <a:ext cx="777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0.8423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92240" y="3867912"/>
            <a:ext cx="1417320" cy="2286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92240" y="3867912"/>
            <a:ext cx="1417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955280" y="3867912"/>
            <a:ext cx="777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0.8425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92240" y="41605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+0.0223 gain</a:t>
            </a:r>
            <a:endParaRPr lang="en-US" sz="14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" y="4005072"/>
            <a:ext cx="5943600" cy="10515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6576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RetinaScope-AI v2  ·  Aymen Slimani  ·  TÜBİTAK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5943600" y="4864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Teacher-Student KD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Segmentation — Qualitative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TransUNet (Student) prediction on test sample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"/>
            <a:ext cx="64008" cy="640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2286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051560"/>
            <a:ext cx="8321040" cy="2103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32461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TransUNet (Student)  |  Dice = 0.8349  |  Sensitivity = 0.8678  |  Vessel pixels: 12.28%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" y="3547872"/>
            <a:ext cx="50292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1480" y="3639312"/>
            <a:ext cx="4846320" cy="126187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532120" y="3547872"/>
            <a:ext cx="3291840" cy="301752"/>
          </a:xfrm>
          <a:prstGeom prst="roundRect">
            <a:avLst>
              <a:gd name="adj" fmla="val 15152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623560" y="3566160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0.8425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812280" y="35844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532120" y="3904488"/>
            <a:ext cx="3291840" cy="301752"/>
          </a:xfrm>
          <a:prstGeom prst="roundRect">
            <a:avLst>
              <a:gd name="adj" fmla="val 15152"/>
            </a:avLst>
          </a:prstGeom>
          <a:solidFill>
            <a:srgbClr val="1E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623560" y="3922776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0.7315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812280" y="39410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532120" y="4261104"/>
            <a:ext cx="3291840" cy="301752"/>
          </a:xfrm>
          <a:prstGeom prst="roundRect">
            <a:avLst>
              <a:gd name="adj" fmla="val 15152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623560" y="4279392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0.9858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812280" y="42976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532120" y="4617720"/>
            <a:ext cx="3291840" cy="301752"/>
          </a:xfrm>
          <a:prstGeom prst="roundRect">
            <a:avLst>
              <a:gd name="adj" fmla="val 15152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623560" y="4636008"/>
            <a:ext cx="1097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0.8695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812280" y="46542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532120" y="4974336"/>
            <a:ext cx="3291840" cy="0"/>
          </a:xfrm>
          <a:prstGeom prst="roundRect">
            <a:avLst>
              <a:gd name="adj" fmla="val Infinity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MTKD Student — Test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40664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E0F7FA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0664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MTKD Results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11827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68680"/>
            <a:ext cx="384048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777240"/>
            <a:ext cx="41605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868680"/>
            <a:ext cx="3977640" cy="34747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4572000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20040" y="45811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0.8425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20040" y="48371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039112" y="4572000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039112" y="45811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0.7315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2039112" y="48371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758184" y="4572000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758184" y="45811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0.9736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758184" y="48371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77256" y="4572000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477256" y="45811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0.8868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5477256" y="48371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7196328" y="4572000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196328" y="45811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0.9858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7196328" y="48371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6576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RetinaScope-AI v2  ·  Aymen Slimani  ·  TÜBİTAK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943600" y="4864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MTKD Test Results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Lesion Segmentation — 4-Class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weighted loss to handle extreme pixel imbalance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"/>
            <a:ext cx="64008" cy="640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60120"/>
            <a:ext cx="5486400" cy="2651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9320" y="1005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Weights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89320" y="1371600"/>
            <a:ext cx="28346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989320" y="1371600"/>
            <a:ext cx="54864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44768" y="14081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 (Microaneurysms)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44768" y="16733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× 3.0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98080" y="15361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Dice: 0.453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89320" y="2084832"/>
            <a:ext cx="28346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989320" y="2084832"/>
            <a:ext cx="54864" cy="5943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44768" y="21214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 (Haemorrhages)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44768" y="23865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× 2.5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498080" y="22494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Dice: 0.553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989320" y="2798064"/>
            <a:ext cx="28346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989320" y="2798064"/>
            <a:ext cx="54864" cy="5943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144768" y="2834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 (Exudates)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44768" y="30998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× 1.5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498080" y="29626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Dice: 0.556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989320" y="3511296"/>
            <a:ext cx="28346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89320" y="3511296"/>
            <a:ext cx="54864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144768" y="3547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 (Optic Disc)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44768" y="38130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× 0.5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498080" y="36758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Dice: 0.953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20040" y="3730752"/>
            <a:ext cx="8503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1480" y="3794760"/>
            <a:ext cx="8321040" cy="107899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20040" y="480060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9-Channel Input Visualization: Red / Green / Blue / Vessel Mask / Microaneurysms / Hemorrhages  (True: Grade 3 | Pred: Grade 3)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36576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RetinaScope-AI v2  ·  Aymen Slimani  ·  TÜBİTAK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943600" y="4864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Segmentation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9-Channel DR Grading Classification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First-Conv Surgery: in_channels 3 → 9, ImageNet weights preserved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"/>
            <a:ext cx="64008" cy="640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60120"/>
            <a:ext cx="5577840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987552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26480" y="1078992"/>
            <a:ext cx="2606040" cy="148132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035040" y="2834640"/>
            <a:ext cx="1298448" cy="685800"/>
          </a:xfrm>
          <a:prstGeom prst="roundRect">
            <a:avLst>
              <a:gd name="adj" fmla="val 9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035040" y="288950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0.9598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035040" y="325526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QWK (primary)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7470648" y="2834640"/>
            <a:ext cx="1298448" cy="685800"/>
          </a:xfrm>
          <a:prstGeom prst="roundRect">
            <a:avLst>
              <a:gd name="adj" fmla="val 933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470648" y="288950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0.9883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470648" y="325526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macro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35040" y="3657600"/>
            <a:ext cx="1298448" cy="685800"/>
          </a:xfrm>
          <a:prstGeom prst="roundRect">
            <a:avLst>
              <a:gd name="adj" fmla="val 9333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035040" y="37124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0.9274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035040" y="407822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7470648" y="3657600"/>
            <a:ext cx="1298448" cy="685800"/>
          </a:xfrm>
          <a:prstGeom prst="roundRect">
            <a:avLst>
              <a:gd name="adj" fmla="val 9333"/>
            </a:avLst>
          </a:prstGeom>
          <a:solidFill>
            <a:srgbClr val="1E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7470648" y="3712464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0.9488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7470648" y="407822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035040" y="4553712"/>
            <a:ext cx="2788920" cy="384048"/>
          </a:xfrm>
          <a:prstGeom prst="roundRect">
            <a:avLst>
              <a:gd name="adj" fmla="val 14286"/>
            </a:avLst>
          </a:prstGeom>
          <a:solidFill>
            <a:srgbClr val="E0F7FA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080760" y="456285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49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First-Conv Surgery: Copy RGB weights to ch 0-2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49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 ch 3-8 with mean(RGB weights)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20040" y="38587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4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Channels = RGB(3) + Vessel(1) + MA(1) + HE(1) + EX(1) + OD(1) + Spare(1)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20040" y="416966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ConvNeXt-Base  |  QWK=0.9598  |  AUC=0.9883  |  F1=0.9274  |  Acc=0.9488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6576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RetinaScope-AI v2  ·  Aymen Slimani  ·  TÜBİTAK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943600" y="4864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Grading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RetinaScope-AI Web Application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0" y="201168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E0F7FA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977640"/>
          </a:xfrm>
          <a:prstGeom prst="roundRect">
            <a:avLst>
              <a:gd name="adj" fmla="val 2759"/>
            </a:avLst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841248"/>
            <a:ext cx="832104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828032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5760" y="4828032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2 — Moderate NPDR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65760" y="4956048"/>
            <a:ext cx="1938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ICDR Grade + confidence 45%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468880" y="4828032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514600" y="4828032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Per-Grade Probabilities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514600" y="4956048"/>
            <a:ext cx="1938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softmax distribution shown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617720" y="4828032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63440" y="4828032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&amp; Damage Panels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663440" y="4956048"/>
            <a:ext cx="1938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5-panel visualization + zoom crops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766560" y="4828032"/>
            <a:ext cx="2029968" cy="256032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12280" y="4828032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Dropout σ = 0.050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812280" y="4956048"/>
            <a:ext cx="1938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quantification built-in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6576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RetinaScope-AI v2  ·  Aymen Slimani  ·  TÜBİTAK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943600" y="4864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targets met or exceeded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"/>
            <a:ext cx="64008" cy="640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9144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Vessel Dice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Exceeded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Vessel AUC-ROC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Exceeded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Teacher→Student KD gain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Confirmed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Lesion Mean Dice (4-class)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Exceeded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Grading QWK (ConvNeXt)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Achieved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Grading AUC macro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Exceeded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end-to-end verified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6 models loaded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65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Verified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Channel Ablation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±0.003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RetinaScope-AI v2  ·  Aymen Slimani  ·  TÜBİTAK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943600" y="4864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live — Edge deployment as next milestone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"/>
            <a:ext cx="64008" cy="640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14800" cy="3913632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4114800" cy="2011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 NOW — Web Application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4630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— REST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8562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— Clinical UI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2494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Vessel + Lesion + Grade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6426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GradCAM++ explainability heatmap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30358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Dropout uncertainty score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3429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clinical report export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3822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LLM explanation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42153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specialist required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987552"/>
            <a:ext cx="4114800" cy="3913632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987552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1E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1170432"/>
            <a:ext cx="4114800" cy="201168"/>
          </a:xfrm>
          <a:prstGeom prst="rect">
            <a:avLst/>
          </a:prstGeom>
          <a:solidFill>
            <a:srgbClr val="1E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10058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FUTURE — Jetson Nano Edge Device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28032" y="1481328"/>
            <a:ext cx="3840480" cy="530352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28032" y="1481328"/>
            <a:ext cx="45720" cy="5303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151790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Jetson Nano (4GB)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175564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inference — fully offline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28032" y="2139696"/>
            <a:ext cx="3840480" cy="530352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28032" y="2139696"/>
            <a:ext cx="45720" cy="5303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217627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Fundus Camera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241401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sub-team — $200–500 vs $30k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28032" y="2798064"/>
            <a:ext cx="3840480" cy="530352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28032" y="2798064"/>
            <a:ext cx="45720" cy="5303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0" y="283464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INT8 Quantization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30723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2s inference/image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28032" y="3456432"/>
            <a:ext cx="3840480" cy="530352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28032" y="3456432"/>
            <a:ext cx="45720" cy="5303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0" y="34930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required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37760" y="37307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clinic deployment ready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28032" y="4114800"/>
            <a:ext cx="3840480" cy="530352"/>
          </a:xfrm>
          <a:prstGeom prst="roundRect">
            <a:avLst>
              <a:gd name="adj" fmla="val 1034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28032" y="4114800"/>
            <a:ext cx="45720" cy="5303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37760" y="415137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 touchscreen interface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37760" y="43891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7-inch display with grade + heatmap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4736592"/>
            <a:ext cx="4114800" cy="201168"/>
          </a:xfrm>
          <a:prstGeom prst="roundRect">
            <a:avLst>
              <a:gd name="adj" fmla="val 18182"/>
            </a:avLst>
          </a:prstGeom>
          <a:solidFill>
            <a:srgbClr val="E0F7FA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09160" y="4736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E4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Jetson Nano + Portable Camera screenshot to be added ]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6576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RetinaScope-AI v2  ·  Aymen Slimani  ·  TÜBİTAK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943600" y="4864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directions — short / mid / long term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"/>
            <a:ext cx="64008" cy="640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3913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43200" cy="438912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743200" cy="2560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042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2487168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45720" cy="84124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162763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grading: EfficientNet-B4 + ViT-Base/16 training runs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2487168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45720" cy="84124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72491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validation on IDRiD Part B holdout (516 images)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2487168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45720" cy="84124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382219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GradCAM++ validation with ophthalmology reviewer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1005840"/>
            <a:ext cx="2743200" cy="3913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46120" y="1005840"/>
            <a:ext cx="2743200" cy="438912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46120" y="1188720"/>
            <a:ext cx="2743200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37560" y="1042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Term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383280" y="1554480"/>
            <a:ext cx="2487168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83280" y="1554480"/>
            <a:ext cx="45720" cy="8412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93008" y="162763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improvement: Tversky loss + patch training → target Dice &gt; 0.67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2651760"/>
            <a:ext cx="2487168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83280" y="2651760"/>
            <a:ext cx="45720" cy="8412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93008" y="272491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threshold optimization (free +1–3% Dice)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83280" y="3749040"/>
            <a:ext cx="2487168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383280" y="3749040"/>
            <a:ext cx="45720" cy="8412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93008" y="382219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Augmentation (8× geometric) → +2–4% Dice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1005840"/>
            <a:ext cx="2743200" cy="39136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72200" y="1005840"/>
            <a:ext cx="2743200" cy="438912"/>
          </a:xfrm>
          <a:prstGeom prst="roundRect">
            <a:avLst>
              <a:gd name="adj" fmla="val 25000"/>
            </a:avLst>
          </a:prstGeom>
          <a:solidFill>
            <a:srgbClr val="1E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72200" y="1188720"/>
            <a:ext cx="2743200" cy="256032"/>
          </a:xfrm>
          <a:prstGeom prst="rect">
            <a:avLst/>
          </a:prstGeom>
          <a:solidFill>
            <a:srgbClr val="1E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63640" y="1042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09360" y="1554480"/>
            <a:ext cx="2487168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9525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09360" y="1554480"/>
            <a:ext cx="45720" cy="841248"/>
          </a:xfrm>
          <a:prstGeom prst="rect">
            <a:avLst/>
          </a:prstGeom>
          <a:solidFill>
            <a:srgbClr val="1E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19088" y="162763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Nano: TensorRT INT8 → sub-2s inference + portable camera integration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2651760"/>
            <a:ext cx="2487168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9525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309360" y="2651760"/>
            <a:ext cx="45720" cy="841248"/>
          </a:xfrm>
          <a:prstGeom prst="rect">
            <a:avLst/>
          </a:prstGeom>
          <a:solidFill>
            <a:srgbClr val="1E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19088" y="272491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 custom arch: BiFormer + EMCAD + DDSP → target Dice &gt; 0.85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3749040"/>
            <a:ext cx="2487168" cy="841248"/>
          </a:xfrm>
          <a:prstGeom prst="roundRect">
            <a:avLst>
              <a:gd name="adj" fmla="val 7609"/>
            </a:avLst>
          </a:prstGeom>
          <a:solidFill>
            <a:srgbClr val="F8FAFC"/>
          </a:solidFill>
          <a:ln w="9525">
            <a:solidFill>
              <a:srgbClr val="1E49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309360" y="3749040"/>
            <a:ext cx="45720" cy="841248"/>
          </a:xfrm>
          <a:prstGeom prst="rect">
            <a:avLst/>
          </a:prstGeom>
          <a:solidFill>
            <a:srgbClr val="1E49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19088" y="3822192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submission (IEEE Trans. Medical Imaging)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576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RetinaScope-AI v2  ·  Aymen Slimani  ·  TÜBİTAK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943600" y="4864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07008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56816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06624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56432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0624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56048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05856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55664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205472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0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705088" y="274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207008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956816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06624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56432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06240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56048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705856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55664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205472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55280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705088" y="93268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207008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956816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06624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56432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206240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956048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705856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55664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205472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955280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705088" y="159105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57200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207008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956816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706624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456432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206240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956048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705856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455664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205472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955280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705088" y="2249424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57200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207008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956816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706624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3456432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206240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956048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705856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455664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205472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955280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705088" y="2907792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57200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207008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956816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2706624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3456432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206240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4956048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705856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455664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7205472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7955280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8705088" y="3566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57200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207008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956816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706624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3456432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4206240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4956048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5705856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455664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7205472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955280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8705088" y="4224528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457200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1207008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956816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706624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3456432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4206240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4956048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5705856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6455664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7205472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7955280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8705088" y="4882896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411480" y="5486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00" name="Shape 98"/>
          <p:cNvSpPr/>
          <p:nvPr/>
        </p:nvSpPr>
        <p:spPr>
          <a:xfrm>
            <a:off x="411480" y="1371600"/>
            <a:ext cx="320040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411480" y="1508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102" name="Shape 100"/>
          <p:cNvSpPr/>
          <p:nvPr/>
        </p:nvSpPr>
        <p:spPr>
          <a:xfrm>
            <a:off x="411480" y="2148840"/>
            <a:ext cx="5029200" cy="2606040"/>
          </a:xfrm>
          <a:prstGeom prst="roundRect">
            <a:avLst>
              <a:gd name="adj" fmla="val 350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548640" y="2240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400" dirty="0"/>
          </a:p>
        </p:txBody>
      </p:sp>
      <p:sp>
        <p:nvSpPr>
          <p:cNvPr id="104" name="Text 102"/>
          <p:cNvSpPr/>
          <p:nvPr/>
        </p:nvSpPr>
        <p:spPr>
          <a:xfrm>
            <a:off x="548640" y="26060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public dataset (585 images, CC BY 4.0)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548640" y="300837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Teacher-Student KD: Dice 0.8200 → 0.8423 (+0.0223)</a:t>
            </a:r>
            <a:endParaRPr lang="en-US" sz="1200" dirty="0"/>
          </a:p>
        </p:txBody>
      </p:sp>
      <p:sp>
        <p:nvSpPr>
          <p:cNvPr id="106" name="Text 104"/>
          <p:cNvSpPr/>
          <p:nvPr/>
        </p:nvSpPr>
        <p:spPr>
          <a:xfrm>
            <a:off x="548640" y="34107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9-architecture controlled benchmark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548640" y="38130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9-channel grading: QWK=0.9598, AUC=0.9883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548640" y="42153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FastAPI + React web application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5577840" y="2148840"/>
            <a:ext cx="3246120" cy="2606040"/>
          </a:xfrm>
          <a:prstGeom prst="roundRect">
            <a:avLst>
              <a:gd name="adj" fmla="val 3509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5715000" y="22402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&amp; Resources</a:t>
            </a:r>
            <a:endParaRPr lang="en-US" sz="1400" dirty="0"/>
          </a:p>
        </p:txBody>
      </p:sp>
      <p:sp>
        <p:nvSpPr>
          <p:cNvPr id="111" name="Text 109"/>
          <p:cNvSpPr/>
          <p:nvPr/>
        </p:nvSpPr>
        <p:spPr>
          <a:xfrm>
            <a:off x="5715000" y="26060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653796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github.com/AYMENsl25/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Retinal-dr-detection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5715000" y="318211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6537960" y="31821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kaggle.com/aymenslimani/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dr-stage1-unified-v2</a:t>
            </a:r>
            <a:endParaRPr lang="en-US" sz="1050" dirty="0"/>
          </a:p>
        </p:txBody>
      </p:sp>
      <p:sp>
        <p:nvSpPr>
          <p:cNvPr id="115" name="Text 113"/>
          <p:cNvSpPr/>
          <p:nvPr/>
        </p:nvSpPr>
        <p:spPr>
          <a:xfrm>
            <a:off x="5715000" y="3758184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</a:t>
            </a:r>
            <a:endParaRPr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6537960" y="37581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MTKD Ensemble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= 0.8425</a:t>
            </a:r>
            <a:endParaRPr lang="en-US" sz="1050" dirty="0"/>
          </a:p>
        </p:txBody>
      </p:sp>
      <p:sp>
        <p:nvSpPr>
          <p:cNvPr id="117" name="Text 115"/>
          <p:cNvSpPr/>
          <p:nvPr/>
        </p:nvSpPr>
        <p:spPr>
          <a:xfrm>
            <a:off x="5715000" y="433425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Grading: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6537960" y="433425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ConvNeXt-Base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QWK = 0.9598</a:t>
            </a:r>
            <a:endParaRPr lang="en-US" sz="1050" dirty="0"/>
          </a:p>
        </p:txBody>
      </p:sp>
      <p:sp>
        <p:nvSpPr>
          <p:cNvPr id="119" name="Text 117"/>
          <p:cNvSpPr/>
          <p:nvPr/>
        </p:nvSpPr>
        <p:spPr>
          <a:xfrm>
            <a:off x="411480" y="48737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Aymen Slimani  ·  Software Engineering  ·  Istanbul University-Cerrahpasa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1341</Words>
  <Application>Microsoft Office PowerPoint</Application>
  <PresentationFormat>On-screen Show (16:9)</PresentationFormat>
  <Paragraphs>353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RetinaScope-AI v2 — Final Presentation</dc:title>
  <dc:subject>PptxGenJS Presentation</dc:subject>
  <dc:creator>Aymen Slimani</dc:creator>
  <cp:lastModifiedBy>Aymen SLIMANI</cp:lastModifiedBy>
  <cp:revision>3</cp:revision>
  <dcterms:created xsi:type="dcterms:W3CDTF">2026-05-28T21:27:56Z</dcterms:created>
  <dcterms:modified xsi:type="dcterms:W3CDTF">2026-05-29T16:43:45Z</dcterms:modified>
</cp:coreProperties>
</file>